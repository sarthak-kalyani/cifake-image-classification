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98480" cy="210312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4400" b="1">
                <a:solidFill>
                  <a:srgbClr val="45D2B2"/>
                </a:solidFill>
                <a:latin typeface="Aptos Display"/>
              </a:rPr>
              <a:t>CIFAKE</a:t>
            </a:r>
          </a:p>
          <a:p>
            <a:r>
              <a:rPr sz="1800" b="1">
                <a:solidFill>
                  <a:srgbClr val="EFF4FA"/>
                </a:solidFill>
                <a:latin typeface="Aptos Display"/>
              </a:rPr>
              <a:t>Image Classification &amp; Explainable Identification
of AI-Generated Synthetic Images</a:t>
            </a:r>
          </a:p>
          <a:p>
            <a:r>
              <a:rPr sz="1600">
                <a:solidFill>
                  <a:srgbClr val="A4B1C6"/>
                </a:solidFill>
              </a:rPr>
              <a:t>Deep Learning • Computer Vision • Explainable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886200"/>
            <a:ext cx="4480560" cy="132588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3886200"/>
            <a:ext cx="54864" cy="1325880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4050791"/>
            <a:ext cx="411480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4480560"/>
            <a:ext cx="4114800" cy="594359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200">
                <a:solidFill>
                  <a:srgbClr val="A4B1C6"/>
                </a:solidFill>
                <a:latin typeface="Aptos"/>
              </a:rPr>
              <a:t>CNN-based binary classification with Grad-CAM explanation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3886200"/>
            <a:ext cx="2743200" cy="132588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32120" y="3886200"/>
            <a:ext cx="54864" cy="1325880"/>
          </a:xfrm>
          <a:prstGeom prst="rect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42432" y="4050791"/>
            <a:ext cx="237744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SUBMITTED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2" y="4480560"/>
            <a:ext cx="2377440" cy="594359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300">
                <a:solidFill>
                  <a:srgbClr val="A4B1C6"/>
                </a:solidFill>
                <a:latin typeface="Aptos"/>
              </a:rPr>
              <a:t>Sarthak Kalyani
B.Tech – CSE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3886200"/>
            <a:ext cx="2743200" cy="132588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58200" y="3886200"/>
            <a:ext cx="54864" cy="1325880"/>
          </a:xfrm>
          <a:prstGeom prst="rect">
            <a:avLst/>
          </a:prstGeom>
          <a:solidFill>
            <a:srgbClr val="F0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4050791"/>
            <a:ext cx="237744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4480560"/>
            <a:ext cx="2377440" cy="594359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100">
                <a:solidFill>
                  <a:srgbClr val="A4B1C6"/>
                </a:solidFill>
                <a:latin typeface="Aptos"/>
              </a:rPr>
              <a:t>G.L. Bajaj Institute of Technology and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900">
                <a:solidFill>
                  <a:srgbClr val="A4B1C6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2700" b="1">
                <a:solidFill>
                  <a:srgbClr val="EFF4FA"/>
                </a:solidFill>
                <a:latin typeface="Aptos Display"/>
              </a:rPr>
              <a:t>Why CIFAKE?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200">
                <a:solidFill>
                  <a:srgbClr val="A4B1C6"/>
                </a:solidFill>
                <a:latin typeface="Aptos"/>
              </a:rPr>
              <a:t>Motivation and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83280" cy="333756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54864" cy="3337560"/>
          </a:xfrm>
          <a:prstGeom prst="rect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64792"/>
            <a:ext cx="30175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94560"/>
            <a:ext cx="3017520" cy="2606039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200">
                <a:solidFill>
                  <a:srgbClr val="A4B1C6"/>
                </a:solidFill>
                <a:latin typeface="Aptos"/>
              </a:rPr>
              <a:t>Generative AI can create highly realistic synthetic images that are increasingly difficult to distinguish from authentic visual content.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333756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54864" cy="3337560"/>
          </a:xfrm>
          <a:prstGeom prst="rect">
            <a:avLst/>
          </a:prstGeom>
          <a:solidFill>
            <a:srgbClr val="F0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764792"/>
            <a:ext cx="30175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THE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94560"/>
            <a:ext cx="3017520" cy="2606039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200">
                <a:solidFill>
                  <a:srgbClr val="A4B1C6"/>
                </a:solidFill>
                <a:latin typeface="Aptos"/>
              </a:rPr>
              <a:t>Manual inspection is unreliable for subtle synthetic artifacts. An automated detector can analyze learned visual patterns at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383280" cy="333756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54864" cy="3337560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764792"/>
            <a:ext cx="30175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THE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194560"/>
            <a:ext cx="3017520" cy="2606039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200">
                <a:solidFill>
                  <a:srgbClr val="A4B1C6"/>
                </a:solidFill>
                <a:latin typeface="Aptos"/>
              </a:rPr>
              <a:t>Classify images as REAL or FAKE and pair the prediction with a Grad-CAM heatmap so the result is not just a black-box label.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900">
                <a:solidFill>
                  <a:srgbClr val="A4B1C6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2700" b="1">
                <a:solidFill>
                  <a:srgbClr val="EFF4FA"/>
                </a:solidFill>
                <a:latin typeface="Aptos Display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200">
                <a:solidFill>
                  <a:srgbClr val="A4B1C6"/>
                </a:solidFill>
                <a:latin typeface="Aptos"/>
              </a:rPr>
              <a:t>What the project is designed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EFF4FA"/>
                </a:solidFill>
                <a:latin typeface="Aptos"/>
              </a:defRPr>
            </a:pPr>
            <a:r>
              <a:rPr/>
              <a:t>• Build a CNN-based system for REAL vs. FAKE image classification.</a:t>
            </a:r>
          </a:p>
          <a:p>
            <a:pPr>
              <a:spcAft>
                <a:spcPts val="1400"/>
              </a:spcAft>
              <a:defRPr sz="1900">
                <a:solidFill>
                  <a:srgbClr val="EFF4FA"/>
                </a:solidFill>
                <a:latin typeface="Aptos"/>
              </a:defRPr>
            </a:pPr>
            <a:r>
              <a:rPr/>
              <a:t>• Preprocess images to a consistent 32 × 32 RGB representation and normalize pixel values.</a:t>
            </a:r>
          </a:p>
          <a:p>
            <a:pPr>
              <a:spcAft>
                <a:spcPts val="1400"/>
              </a:spcAft>
              <a:defRPr sz="1900">
                <a:solidFill>
                  <a:srgbClr val="EFF4FA"/>
                </a:solidFill>
                <a:latin typeface="Aptos"/>
              </a:defRPr>
            </a:pPr>
            <a:r>
              <a:rPr/>
              <a:t>• Integrate Grad-CAM to provide a visual explanation of CNN predictions.</a:t>
            </a:r>
          </a:p>
          <a:p>
            <a:pPr>
              <a:spcAft>
                <a:spcPts val="1400"/>
              </a:spcAft>
              <a:defRPr sz="1900">
                <a:solidFill>
                  <a:srgbClr val="EFF4FA"/>
                </a:solidFill>
                <a:latin typeface="Aptos"/>
              </a:defRPr>
            </a:pPr>
            <a:r>
              <a:rPr/>
              <a:t>• Expose the trained model through a Flask web interface for image upload and inference.</a:t>
            </a:r>
          </a:p>
          <a:p>
            <a:pPr>
              <a:spcAft>
                <a:spcPts val="1400"/>
              </a:spcAft>
              <a:defRPr sz="1900">
                <a:solidFill>
                  <a:srgbClr val="EFF4FA"/>
                </a:solidFill>
                <a:latin typeface="Aptos"/>
              </a:defRPr>
            </a:pPr>
            <a:r>
              <a:rPr/>
              <a:t>• Evaluate performance using accuracy, precision, recall, F1-score and a confusion matrix.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900">
                <a:solidFill>
                  <a:srgbClr val="A4B1C6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2700" b="1">
                <a:solidFill>
                  <a:srgbClr val="EFF4FA"/>
                </a:solidFill>
                <a:latin typeface="Aptos Display"/>
              </a:rPr>
              <a:t>Dataset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200">
                <a:solidFill>
                  <a:srgbClr val="A4B1C6"/>
                </a:solidFill>
                <a:latin typeface="Aptos"/>
              </a:rPr>
              <a:t>Processed CIFAKE data used by the supplied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91840" cy="141732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4864" cy="1417320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73351"/>
            <a:ext cx="292608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100,000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03120"/>
            <a:ext cx="2926080" cy="68580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300">
                <a:solidFill>
                  <a:srgbClr val="A4B1C6"/>
                </a:solidFill>
                <a:latin typeface="Aptos"/>
              </a:rPr>
              <a:t>50,000 REAL + 50,000 FAKE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291840" cy="141732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54864" cy="1417320"/>
          </a:xfrm>
          <a:prstGeom prst="rect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673351"/>
            <a:ext cx="292608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INPUT 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103120"/>
            <a:ext cx="2926080" cy="68580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300">
                <a:solidFill>
                  <a:srgbClr val="A4B1C6"/>
                </a:solidFill>
                <a:latin typeface="Aptos"/>
              </a:rPr>
              <a:t>32 × 32 × 3 RGB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08760"/>
            <a:ext cx="3291840" cy="141732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08760"/>
            <a:ext cx="54864" cy="1417320"/>
          </a:xfrm>
          <a:prstGeom prst="rect">
            <a:avLst/>
          </a:prstGeom>
          <a:solidFill>
            <a:srgbClr val="F0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673351"/>
            <a:ext cx="292608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EVALUATION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103120"/>
            <a:ext cx="2926080" cy="68580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300">
                <a:solidFill>
                  <a:srgbClr val="A4B1C6"/>
                </a:solidFill>
                <a:latin typeface="Aptos"/>
              </a:rPr>
              <a:t>80% train / 20%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46120"/>
            <a:ext cx="10698480" cy="205740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246120"/>
            <a:ext cx="54864" cy="2057400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410712"/>
            <a:ext cx="10332719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PREPROCESSING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840480"/>
            <a:ext cx="10332719" cy="13258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200">
                <a:solidFill>
                  <a:srgbClr val="A4B1C6"/>
                </a:solidFill>
                <a:latin typeface="Aptos"/>
              </a:rPr>
              <a:t>Image decode → resize to 32 × 32 → convert to float → normalize pixels by 255 → CNN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900">
                <a:solidFill>
                  <a:srgbClr val="A4B1C6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000" b="1">
                <a:solidFill>
                  <a:srgbClr val="EFF4FA"/>
                </a:solidFill>
                <a:latin typeface="Aptos Display"/>
              </a:rPr>
              <a:t>Modified CNN2D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000">
                <a:solidFill>
                  <a:srgbClr val="A4B1C6"/>
                </a:solidFill>
                <a:latin typeface="Aptos"/>
              </a:rPr>
              <a:t>Architecture implemented by the supplied trained weights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240280"/>
            <a:ext cx="1078992" cy="1143000"/>
          </a:xfrm>
          <a:prstGeom prst="roundRect">
            <a:avLst/>
          </a:prstGeom>
          <a:solidFill>
            <a:srgbClr val="111B2E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EFF4FA"/>
                </a:solidFill>
              </a:rPr>
              <a:t>Input</a:t>
            </a:r>
          </a:p>
          <a:p>
            <a:pPr algn="ctr"/>
            <a:r>
              <a:rPr sz="850">
                <a:solidFill>
                  <a:srgbClr val="A4B1C6"/>
                </a:solidFill>
              </a:rPr>
              <a:t>32×32×3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81912" y="2240280"/>
            <a:ext cx="1078992" cy="1143000"/>
          </a:xfrm>
          <a:prstGeom prst="roundRect">
            <a:avLst/>
          </a:prstGeom>
          <a:solidFill>
            <a:srgbClr val="111B2E"/>
          </a:solidFill>
          <a:ln>
            <a:solidFill>
              <a:srgbClr val="45D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EFF4FA"/>
                </a:solidFill>
              </a:rPr>
              <a:t>Conv2D</a:t>
            </a:r>
          </a:p>
          <a:p>
            <a:pPr algn="ctr"/>
            <a:r>
              <a:rPr sz="850">
                <a:solidFill>
                  <a:srgbClr val="A4B1C6"/>
                </a:solidFill>
              </a:rPr>
              <a:t>32 filters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2344" y="2240280"/>
            <a:ext cx="1078992" cy="1143000"/>
          </a:xfrm>
          <a:prstGeom prst="roundRect">
            <a:avLst/>
          </a:prstGeom>
          <a:solidFill>
            <a:srgbClr val="111B2E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EFF4FA"/>
                </a:solidFill>
              </a:rPr>
              <a:t>MaxPool</a:t>
            </a:r>
          </a:p>
          <a:p>
            <a:pPr algn="ctr"/>
            <a:r>
              <a:rPr sz="850">
                <a:solidFill>
                  <a:srgbClr val="A4B1C6"/>
                </a:solidFill>
              </a:rPr>
              <a:t>2×2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22776" y="2240280"/>
            <a:ext cx="1078992" cy="1143000"/>
          </a:xfrm>
          <a:prstGeom prst="roundRect">
            <a:avLst/>
          </a:prstGeom>
          <a:solidFill>
            <a:srgbClr val="111B2E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EFF4FA"/>
                </a:solidFill>
              </a:rPr>
              <a:t>Dropout</a:t>
            </a:r>
          </a:p>
          <a:p>
            <a:pPr algn="ctr"/>
            <a:r>
              <a:rPr sz="850">
                <a:solidFill>
                  <a:srgbClr val="A4B1C6"/>
                </a:solidFill>
              </a:rPr>
              <a:t>0.3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3208" y="2240280"/>
            <a:ext cx="1078992" cy="1143000"/>
          </a:xfrm>
          <a:prstGeom prst="roundRect">
            <a:avLst/>
          </a:prstGeom>
          <a:solidFill>
            <a:srgbClr val="111B2E"/>
          </a:solidFill>
          <a:ln>
            <a:solidFill>
              <a:srgbClr val="45D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EFF4FA"/>
                </a:solidFill>
              </a:rPr>
              <a:t>Conv2D</a:t>
            </a:r>
          </a:p>
          <a:p>
            <a:pPr algn="ctr"/>
            <a:r>
              <a:rPr sz="850">
                <a:solidFill>
                  <a:srgbClr val="A4B1C6"/>
                </a:solidFill>
              </a:rPr>
              <a:t>32 filters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240280"/>
            <a:ext cx="1078992" cy="1143000"/>
          </a:xfrm>
          <a:prstGeom prst="roundRect">
            <a:avLst/>
          </a:prstGeom>
          <a:solidFill>
            <a:srgbClr val="111B2E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EFF4FA"/>
                </a:solidFill>
              </a:rPr>
              <a:t>MaxPool</a:t>
            </a:r>
          </a:p>
          <a:p>
            <a:pPr algn="ctr"/>
            <a:r>
              <a:rPr sz="850">
                <a:solidFill>
                  <a:srgbClr val="A4B1C6"/>
                </a:solidFill>
              </a:rPr>
              <a:t>2×2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34072" y="2240280"/>
            <a:ext cx="1078992" cy="1143000"/>
          </a:xfrm>
          <a:prstGeom prst="roundRect">
            <a:avLst/>
          </a:prstGeom>
          <a:solidFill>
            <a:srgbClr val="111B2E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EFF4FA"/>
                </a:solidFill>
              </a:rPr>
              <a:t>Dropout</a:t>
            </a:r>
          </a:p>
          <a:p>
            <a:pPr algn="ctr"/>
            <a:r>
              <a:rPr sz="850">
                <a:solidFill>
                  <a:srgbClr val="A4B1C6"/>
                </a:solidFill>
              </a:rPr>
              <a:t>0.3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04504" y="2240280"/>
            <a:ext cx="1078992" cy="1143000"/>
          </a:xfrm>
          <a:prstGeom prst="roundRect">
            <a:avLst/>
          </a:prstGeom>
          <a:solidFill>
            <a:srgbClr val="111B2E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EFF4FA"/>
                </a:solidFill>
              </a:rPr>
              <a:t>Flatten</a:t>
            </a:r>
          </a:p>
          <a:p>
            <a:pPr algn="ctr"/>
            <a:r>
              <a:rPr sz="850">
                <a:solidFill>
                  <a:srgbClr val="A4B1C6"/>
                </a:solidFill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74936" y="2240280"/>
            <a:ext cx="1078992" cy="1143000"/>
          </a:xfrm>
          <a:prstGeom prst="roundRect">
            <a:avLst/>
          </a:prstGeom>
          <a:solidFill>
            <a:srgbClr val="111B2E"/>
          </a:solidFill>
          <a:ln>
            <a:solidFill>
              <a:srgbClr val="45D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EFF4FA"/>
                </a:solidFill>
              </a:rPr>
              <a:t>Dense</a:t>
            </a:r>
          </a:p>
          <a:p>
            <a:pPr algn="ctr"/>
            <a:r>
              <a:rPr sz="850">
                <a:solidFill>
                  <a:srgbClr val="A4B1C6"/>
                </a:solidFill>
              </a:rPr>
              <a:t>256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45367" y="2240280"/>
            <a:ext cx="1078992" cy="1143000"/>
          </a:xfrm>
          <a:prstGeom prst="roundRect">
            <a:avLst/>
          </a:prstGeom>
          <a:solidFill>
            <a:srgbClr val="111B2E"/>
          </a:solidFill>
          <a:ln>
            <a:solidFill>
              <a:srgbClr val="45D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EFF4FA"/>
                </a:solidFill>
              </a:rPr>
              <a:t>Softmax</a:t>
            </a:r>
          </a:p>
          <a:p>
            <a:pPr algn="ctr"/>
            <a:r>
              <a:rPr sz="850">
                <a:solidFill>
                  <a:srgbClr val="A4B1C6"/>
                </a:solidFill>
              </a:rPr>
              <a:t>2 classes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069080"/>
            <a:ext cx="4754880" cy="100584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069080"/>
            <a:ext cx="54864" cy="1005840"/>
          </a:xfrm>
          <a:prstGeom prst="rect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6152" y="4233672"/>
            <a:ext cx="43891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000" b="1">
                <a:solidFill>
                  <a:srgbClr val="EFF4FA"/>
                </a:solidFill>
                <a:latin typeface="Aptos Display"/>
              </a:rPr>
              <a:t>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4663440"/>
            <a:ext cx="4389120" cy="27432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000">
                <a:solidFill>
                  <a:srgbClr val="A4B1C6"/>
                </a:solidFill>
                <a:latin typeface="Aptos"/>
              </a:rPr>
              <a:t>Adam optimizer • categorical cross-entropy • dropout regularization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4069080"/>
            <a:ext cx="4754880" cy="100584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4069080"/>
            <a:ext cx="54864" cy="1005840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4233672"/>
            <a:ext cx="43891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000" b="1">
                <a:solidFill>
                  <a:srgbClr val="EFF4FA"/>
                </a:solidFill>
                <a:latin typeface="Aptos Display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4663440"/>
            <a:ext cx="4389120" cy="27432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000">
                <a:solidFill>
                  <a:srgbClr val="A4B1C6"/>
                </a:solidFill>
                <a:latin typeface="Aptos"/>
              </a:rPr>
              <a:t>Two-class softmax → REAL or FAKE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900">
                <a:solidFill>
                  <a:srgbClr val="A4B1C6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2700" b="1">
                <a:solidFill>
                  <a:srgbClr val="EFF4FA"/>
                </a:solidFill>
                <a:latin typeface="Aptos Display"/>
              </a:rP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200">
                <a:solidFill>
                  <a:srgbClr val="A4B1C6"/>
                </a:solidFill>
                <a:latin typeface="Aptos"/>
              </a:rPr>
              <a:t>From user upload to explainable prediction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828800"/>
            <a:ext cx="658368" cy="658368"/>
          </a:xfrm>
          <a:prstGeom prst="ellipse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090F1C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2670048"/>
            <a:ext cx="1188720" cy="73152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ctr"/>
            <a:r>
              <a:rPr sz="1300" b="1">
                <a:solidFill>
                  <a:srgbClr val="EFF4FA"/>
                </a:solidFill>
              </a:rPr>
              <a:t>Upload</a:t>
            </a:r>
          </a:p>
          <a:p>
            <a:pPr algn="ctr"/>
            <a:r>
              <a:rPr sz="900">
                <a:solidFill>
                  <a:srgbClr val="A4B1C6"/>
                </a:solidFill>
              </a:rPr>
              <a:t>Select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1965960"/>
            <a:ext cx="640080" cy="32004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ctr"/>
            <a:r>
              <a:rPr sz="2000">
                <a:solidFill>
                  <a:srgbClr val="A4B1C6"/>
                </a:solidFill>
              </a:rP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2862072" y="1828800"/>
            <a:ext cx="658368" cy="658368"/>
          </a:xfrm>
          <a:prstGeom prst="ellipse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090F1C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2670048"/>
            <a:ext cx="1188720" cy="73152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ctr"/>
            <a:r>
              <a:rPr sz="1300" b="1">
                <a:solidFill>
                  <a:srgbClr val="EFF4FA"/>
                </a:solidFill>
              </a:rPr>
              <a:t>Preprocess</a:t>
            </a:r>
          </a:p>
          <a:p>
            <a:pPr algn="ctr"/>
            <a:r>
              <a:rPr sz="900">
                <a:solidFill>
                  <a:srgbClr val="A4B1C6"/>
                </a:solidFill>
              </a:rPr>
              <a:t>Decode • resize • normalize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1965960"/>
            <a:ext cx="640080" cy="32004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ctr"/>
            <a:r>
              <a:rPr sz="2000">
                <a:solidFill>
                  <a:srgbClr val="A4B1C6"/>
                </a:solidFill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5129783" y="1828800"/>
            <a:ext cx="658368" cy="658368"/>
          </a:xfrm>
          <a:prstGeom prst="ellipse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090F1C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1" y="2670048"/>
            <a:ext cx="1188720" cy="73152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ctr"/>
            <a:r>
              <a:rPr sz="1300" b="1">
                <a:solidFill>
                  <a:srgbClr val="EFF4FA"/>
                </a:solidFill>
              </a:rPr>
              <a:t>Classify</a:t>
            </a:r>
          </a:p>
          <a:p>
            <a:pPr algn="ctr"/>
            <a:r>
              <a:rPr sz="900">
                <a:solidFill>
                  <a:srgbClr val="A4B1C6"/>
                </a:solidFill>
              </a:rPr>
              <a:t>CNN → REAL / FAKE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3016" y="1965960"/>
            <a:ext cx="640080" cy="32004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ctr"/>
            <a:r>
              <a:rPr sz="2000">
                <a:solidFill>
                  <a:srgbClr val="A4B1C6"/>
                </a:solidFill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397496" y="1828800"/>
            <a:ext cx="658368" cy="658368"/>
          </a:xfrm>
          <a:prstGeom prst="ellipse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090F1C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1464" y="2670048"/>
            <a:ext cx="1188720" cy="73152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ctr"/>
            <a:r>
              <a:rPr sz="1300" b="1">
                <a:solidFill>
                  <a:srgbClr val="EFF4FA"/>
                </a:solidFill>
              </a:rPr>
              <a:t>Explain</a:t>
            </a:r>
          </a:p>
          <a:p>
            <a:pPr algn="ctr"/>
            <a:r>
              <a:rPr sz="900">
                <a:solidFill>
                  <a:srgbClr val="A4B1C6"/>
                </a:solidFill>
              </a:rPr>
              <a:t>Grad-CAM heatmap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1965960"/>
            <a:ext cx="640080" cy="32004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ctr"/>
            <a:r>
              <a:rPr sz="2000">
                <a:solidFill>
                  <a:srgbClr val="A4B1C6"/>
                </a:solidFill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9665208" y="1828800"/>
            <a:ext cx="658368" cy="658368"/>
          </a:xfrm>
          <a:prstGeom prst="ellipse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090F1C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9176" y="2670048"/>
            <a:ext cx="1188720" cy="73152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ctr"/>
            <a:r>
              <a:rPr sz="1300" b="1">
                <a:solidFill>
                  <a:srgbClr val="EFF4FA"/>
                </a:solidFill>
              </a:rPr>
              <a:t>Display</a:t>
            </a:r>
          </a:p>
          <a:p>
            <a:pPr algn="ctr"/>
            <a:r>
              <a:rPr sz="900">
                <a:solidFill>
                  <a:srgbClr val="A4B1C6"/>
                </a:solidFill>
              </a:rPr>
              <a:t>Prediction + 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900">
                <a:solidFill>
                  <a:srgbClr val="A4B1C6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2700" b="1">
                <a:solidFill>
                  <a:srgbClr val="EFF4FA"/>
                </a:solidFill>
                <a:latin typeface="Aptos Display"/>
              </a:rP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200">
                <a:solidFill>
                  <a:srgbClr val="A4B1C6"/>
                </a:solidFill>
                <a:latin typeface="Aptos"/>
              </a:rPr>
              <a:t>Reproducible evaluation on a 20,000-image test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651760" cy="123444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54864" cy="1234440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36192"/>
            <a:ext cx="228600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2286000" cy="50292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300">
                <a:solidFill>
                  <a:srgbClr val="A4B1C6"/>
                </a:solidFill>
                <a:latin typeface="Aptos"/>
              </a:rPr>
              <a:t>95.93%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651760" cy="123444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371600"/>
            <a:ext cx="54864" cy="1234440"/>
          </a:xfrm>
          <a:prstGeom prst="rect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536192"/>
            <a:ext cx="228600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1965960"/>
            <a:ext cx="2286000" cy="50292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300">
                <a:solidFill>
                  <a:srgbClr val="A4B1C6"/>
                </a:solidFill>
                <a:latin typeface="Aptos"/>
              </a:rPr>
              <a:t>94.70%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371600"/>
            <a:ext cx="2651760" cy="123444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371600"/>
            <a:ext cx="54864" cy="1234440"/>
          </a:xfrm>
          <a:prstGeom prst="rect">
            <a:avLst/>
          </a:prstGeom>
          <a:solidFill>
            <a:srgbClr val="F0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536192"/>
            <a:ext cx="228600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1965960"/>
            <a:ext cx="2286000" cy="50292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300">
                <a:solidFill>
                  <a:srgbClr val="A4B1C6"/>
                </a:solidFill>
                <a:latin typeface="Aptos"/>
              </a:rPr>
              <a:t>97.29%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651760" cy="123444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54864" cy="1234440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45752" y="1536192"/>
            <a:ext cx="228600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F1-Score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1965960"/>
            <a:ext cx="2286000" cy="50292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300">
                <a:solidFill>
                  <a:srgbClr val="A4B1C6"/>
                </a:solidFill>
                <a:latin typeface="Aptos"/>
              </a:rPr>
              <a:t>95.98%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063240"/>
            <a:ext cx="9875520" cy="201168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3063240"/>
            <a:ext cx="54864" cy="2011680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3312" y="3227832"/>
            <a:ext cx="950976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CONFUSION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3657600"/>
            <a:ext cx="9509760" cy="12801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300">
                <a:solidFill>
                  <a:srgbClr val="A4B1C6"/>
                </a:solidFill>
                <a:latin typeface="Aptos"/>
              </a:rPr>
              <a:t>             Predicted
             0       1
Actual 0   9456    544
Actual 1    271   9729
9,456 and 9,729 samples were correctly classified; 815 were misclassified.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900">
                <a:solidFill>
                  <a:srgbClr val="A4B1C6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2700" b="1">
                <a:solidFill>
                  <a:srgbClr val="EFF4FA"/>
                </a:solidFill>
                <a:latin typeface="Aptos Display"/>
              </a:rPr>
              <a:t>Training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200">
                <a:solidFill>
                  <a:srgbClr val="A4B1C6"/>
                </a:solidFill>
                <a:latin typeface="Aptos"/>
              </a:rPr>
              <a:t>Saved training history from the supplied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4754880" cy="356616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508760"/>
            <a:ext cx="54864" cy="3566160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673351"/>
            <a:ext cx="43891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103120"/>
            <a:ext cx="4389120" cy="2834639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300">
                <a:solidFill>
                  <a:srgbClr val="A4B1C6"/>
                </a:solidFill>
                <a:latin typeface="Aptos"/>
              </a:rPr>
              <a:t>Best validation accuracy: 93.89% at epoch 9
Training accuracy at epoch 9: 93.10%
Validation accuracy at epoch 9: 93.89%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08760"/>
            <a:ext cx="4754880" cy="356616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508760"/>
            <a:ext cx="54864" cy="3566160"/>
          </a:xfrm>
          <a:prstGeom prst="rect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673351"/>
            <a:ext cx="43891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103120"/>
            <a:ext cx="4389120" cy="2834639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300">
                <a:solidFill>
                  <a:srgbClr val="A4B1C6"/>
                </a:solidFill>
                <a:latin typeface="Aptos"/>
              </a:rPr>
              <a:t>Training loss at epoch 9: 0.1726
Validation loss at epoch 9: 0.1615
The curves provide a view of learning behaviour across training epochs.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900">
                <a:solidFill>
                  <a:srgbClr val="A4B1C6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2700" b="1">
                <a:solidFill>
                  <a:srgbClr val="EFF4FA"/>
                </a:solidFill>
                <a:latin typeface="Aptos Display"/>
              </a:rPr>
              <a:t>Web Application &amp;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200">
                <a:solidFill>
                  <a:srgbClr val="A4B1C6"/>
                </a:solidFill>
                <a:latin typeface="Aptos"/>
              </a:rPr>
              <a:t>Flask interface tested with both REAL and FAKE inputs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3337560" cy="361188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54864" cy="3611880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73351"/>
            <a:ext cx="297180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REAL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103120"/>
            <a:ext cx="2971800" cy="28803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300">
                <a:solidFill>
                  <a:srgbClr val="A4B1C6"/>
                </a:solidFill>
                <a:latin typeface="Aptos"/>
              </a:rPr>
              <a:t>Upload → CNN classification →
Predicted As : REAL
Grad-CAM visualization is shown with the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361188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54864" cy="3611880"/>
          </a:xfrm>
          <a:prstGeom prst="rect">
            <a:avLst/>
          </a:prstGeom>
          <a:solidFill>
            <a:srgbClr val="F0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673351"/>
            <a:ext cx="297180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FAKE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103120"/>
            <a:ext cx="2971800" cy="28803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300">
                <a:solidFill>
                  <a:srgbClr val="A4B1C6"/>
                </a:solidFill>
                <a:latin typeface="Aptos"/>
              </a:rPr>
              <a:t>Upload → CNN classification →
Predicted As : FAKE
Grad-CAM visualization is shown with the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08760"/>
            <a:ext cx="3337560" cy="361188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508760"/>
            <a:ext cx="54864" cy="3611880"/>
          </a:xfrm>
          <a:prstGeom prst="rect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673351"/>
            <a:ext cx="297180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EXPLAINABILITY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103120"/>
            <a:ext cx="2971800" cy="28803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100">
                <a:solidFill>
                  <a:srgbClr val="A4B1C6"/>
                </a:solidFill>
                <a:latin typeface="Aptos"/>
              </a:rPr>
              <a:t>Grad-CAM produces a heatmap associated with the model's learned activation, providing an interpretable visual alongside the binary label.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900">
                <a:solidFill>
                  <a:srgbClr val="A4B1C6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2700" b="1">
                <a:solidFill>
                  <a:srgbClr val="EFF4FA"/>
                </a:solidFill>
                <a:latin typeface="Aptos Display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200">
                <a:solidFill>
                  <a:srgbClr val="A4B1C6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361188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864" cy="3611880"/>
          </a:xfrm>
          <a:prstGeom prst="rect">
            <a:avLst/>
          </a:prstGeom>
          <a:solidFill>
            <a:srgbClr val="45D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81912"/>
            <a:ext cx="48463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WHAT WE ACHIEVED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4846320" cy="28803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300">
                <a:solidFill>
                  <a:srgbClr val="A4B1C6"/>
                </a:solidFill>
                <a:latin typeface="Aptos"/>
              </a:rPr>
              <a:t>• Working Flask-based CIFAKE application
• REAL / FAKE CNN classification
• Grad-CAM explanation
• Reproducible evaluation
• 95.93% accuracy on the evaluated test 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3611880"/>
          </a:xfrm>
          <a:prstGeom prst="roundRect">
            <a:avLst/>
          </a:prstGeom>
          <a:solidFill>
            <a:srgbClr val="111B2E"/>
          </a:solidFill>
          <a:ln>
            <a:solidFill>
              <a:srgbClr val="23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4864" cy="3611880"/>
          </a:xfrm>
          <a:prstGeom prst="rect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81912"/>
            <a:ext cx="4846320" cy="3657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500" b="1">
                <a:solidFill>
                  <a:srgbClr val="EFF4FA"/>
                </a:solidFill>
                <a:latin typeface="Aptos Display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11680"/>
            <a:ext cx="4846320" cy="28803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r>
              <a:rPr sz="1300">
                <a:solidFill>
                  <a:srgbClr val="A4B1C6"/>
                </a:solidFill>
                <a:latin typeface="Aptos"/>
              </a:rPr>
              <a:t>• Higher-resolution analysis
• Modern architectures such as ResNet / EfficientNet / ViT
• Stronger cross-generator generalization
• Additional explainability methods
• Batch analysis and cloud/API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241280" cy="54864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ctr"/>
            <a:r>
              <a:rPr sz="2500" b="1">
                <a:solidFill>
                  <a:srgbClr val="EFF4FA"/>
                </a:solidFill>
                <a:latin typeface="Aptos Display"/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900">
                <a:solidFill>
                  <a:srgbClr val="A4B1C6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